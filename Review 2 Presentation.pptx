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embeddedFontLst>
    <p:embeddedFont>
      <p:font typeface="Play" panose="020B0604020202020204" charset="0"/>
      <p:regular r:id="rId33"/>
      <p:bold r:id="rId34"/>
    </p:embeddedFont>
    <p:embeddedFont>
      <p:font typeface="Verdana" panose="020B060403050404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goXeKPXO1n53g+999k1haFX0g3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033133-A106-4E10-A3C9-CFF4516EA3C2}">
  <a:tblStyle styleId="{80033133-A106-4E10-A3C9-CFF4516EA3C2}" styleName="Table_0">
    <a:wholeTbl>
      <a:tcTxStyle b="off" i="off">
        <a:font>
          <a:latin typeface="Verdana"/>
          <a:ea typeface="Verdana"/>
          <a:cs typeface="Verdan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F2F4"/>
          </a:solidFill>
        </a:fill>
      </a:tcStyle>
    </a:wholeTbl>
    <a:band1H>
      <a:tcTxStyle/>
      <a:tcStyle>
        <a:tcBdr/>
        <a:fill>
          <a:solidFill>
            <a:srgbClr val="E0E4E9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0E4E9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Verdana"/>
          <a:ea typeface="Verdana"/>
          <a:cs typeface="Verdan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Verdana"/>
          <a:ea typeface="Verdana"/>
          <a:cs typeface="Verdan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Verdana"/>
          <a:ea typeface="Verdana"/>
          <a:cs typeface="Verdan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5d35481bc02a00b1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h5d35481bc02a00b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5d35481bc02a00b1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h5d35481bc02a00b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5d35481bc02a00b1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h5d35481bc02a00b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2ac118f1279bbe2_1_3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h2ac118f1279bbe2_1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h2ac118f1279bbe2_1_4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h2ac118f1279bbe2_1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h2ac118f1279bbe2_1_4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h2ac118f1279bbe2_1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2ac118f1279bbe2_1_4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h2ac118f1279bbe2_1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h2ac118f1279bbe2_1_4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h2ac118f1279bbe2_1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h2ac118f1279bbe2_1_4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h2ac118f1279bbe2_1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h2ac118f1279bbe2_1_4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h2ac118f1279bbe2_1_4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/>
          <p:nvPr/>
        </p:nvSpPr>
        <p:spPr>
          <a:xfrm>
            <a:off x="914400" y="2393950"/>
            <a:ext cx="103632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19;p22"/>
          <p:cNvSpPr txBox="1">
            <a:spLocks noGrp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None/>
              <a:defRPr sz="2800"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dt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52324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2"/>
          </p:nvPr>
        </p:nvSpPr>
        <p:spPr>
          <a:xfrm>
            <a:off x="6191251" y="1752600"/>
            <a:ext cx="52324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54" name="Google Shape;54;p27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7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8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8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6pPr>
            <a:lvl7pPr marL="3200400" lvl="6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7pPr>
            <a:lvl8pPr marL="3657600" lvl="7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8pPr>
            <a:lvl9pPr marL="4114800" lvl="8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9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9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3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30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1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body" idx="1"/>
          </p:nvPr>
        </p:nvSpPr>
        <p:spPr>
          <a:xfrm rot="5400000">
            <a:off x="3956051" y="-1447800"/>
            <a:ext cx="42672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8" name="Google Shape;78;p31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2"/>
          <p:cNvSpPr txBox="1">
            <a:spLocks noGrp="1"/>
          </p:cNvSpPr>
          <p:nvPr>
            <p:ph type="title"/>
          </p:nvPr>
        </p:nvSpPr>
        <p:spPr>
          <a:xfrm rot="5400000">
            <a:off x="7242176" y="1827742"/>
            <a:ext cx="5715000" cy="266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body" idx="1"/>
          </p:nvPr>
        </p:nvSpPr>
        <p:spPr>
          <a:xfrm rot="5400000">
            <a:off x="1801284" y="-740833"/>
            <a:ext cx="5715000" cy="780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84" name="Google Shape;84;p32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tile tx="0" ty="0" sx="100000" sy="100000" flip="none" algn="tl"/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910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sz="3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sz="2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74650" algn="l" rtl="0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sz="23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/>
          <p:nvPr/>
        </p:nvSpPr>
        <p:spPr>
          <a:xfrm>
            <a:off x="812800" y="1566864"/>
            <a:ext cx="10610851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3" name="Google Shape;13;p21"/>
          <p:cNvCxnSpPr/>
          <p:nvPr/>
        </p:nvCxnSpPr>
        <p:spPr>
          <a:xfrm>
            <a:off x="812800" y="6172200"/>
            <a:ext cx="105664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4;p21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5" name="Google Shape;15;p2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4" sy="100004" flip="none" algn="tl"/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789712" y="253061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000"/>
              <a:buFont typeface="Verdana"/>
              <a:buNone/>
            </a:pPr>
            <a:r>
              <a:rPr lang="en-US" sz="4000" b="1" dirty="0" err="1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ShadowTrace</a:t>
            </a:r>
            <a:r>
              <a:rPr lang="en-US" sz="4000" b="1" dirty="0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: AI Based </a:t>
            </a:r>
            <a:r>
              <a:rPr lang="en-US" sz="4000" b="1" dirty="0" err="1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Intrution</a:t>
            </a:r>
            <a:r>
              <a:rPr lang="en-US" sz="4000" b="1" dirty="0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 Detection </a:t>
            </a:r>
            <a:r>
              <a:rPr lang="en-US" sz="4000" b="1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Game - </a:t>
            </a:r>
            <a:r>
              <a:rPr lang="en-US" sz="4000" b="1" dirty="0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REVIEW 2</a:t>
            </a:r>
            <a:endParaRPr dirty="0"/>
          </a:p>
        </p:txBody>
      </p:sp>
      <p:sp>
        <p:nvSpPr>
          <p:cNvPr id="92" name="Google Shape;92;p1"/>
          <p:cNvSpPr txBox="1"/>
          <p:nvPr/>
        </p:nvSpPr>
        <p:spPr>
          <a:xfrm>
            <a:off x="484700" y="5183900"/>
            <a:ext cx="43884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en-US" sz="2400" b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Dr. S. Bhuvana</a:t>
            </a:r>
            <a:endParaRPr sz="2400" b="1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en-US" sz="2400" b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Assistant Professor(SG)</a:t>
            </a:r>
            <a:endParaRPr sz="2400" b="1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6476425" y="5183900"/>
            <a:ext cx="53085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en-US" sz="2400" b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Grisha P - 2116241901030</a:t>
            </a:r>
            <a:endParaRPr sz="2400" b="1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en-US" sz="2400" b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Nandhini V - 2116241901063</a:t>
            </a:r>
            <a:endParaRPr sz="2400" b="1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54333" y="980728"/>
            <a:ext cx="105156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Verdana"/>
              <a:buNone/>
            </a:pPr>
            <a:r>
              <a:rPr lang="en-US" sz="2800" b="1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Department of Computer Science and Engineering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Verdana"/>
              <a:buNone/>
            </a:pPr>
            <a:r>
              <a:rPr lang="en-US" sz="2800" b="1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(Cyber Security)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None/>
            </a:pPr>
            <a:endParaRPr sz="2800" b="1"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5" name="Google Shape;95;p1" descr="C:\Users\REC\Downloads\REC_Logo_Color_PNG_RGB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933074" cy="10836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/>
          <p:nvPr/>
        </p:nvSpPr>
        <p:spPr>
          <a:xfrm>
            <a:off x="1631504" y="1412776"/>
            <a:ext cx="10112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CS23533– Foundations of Artificial Intelligence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4873101" y="1916832"/>
            <a:ext cx="160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2026-2027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Problem Statement and Motivation</a:t>
            </a:r>
            <a:endParaRPr sz="2800"/>
          </a:p>
        </p:txBody>
      </p:sp>
      <p:sp>
        <p:nvSpPr>
          <p:cNvPr id="103" name="Google Shape;103;p2"/>
          <p:cNvSpPr txBox="1">
            <a:spLocks noGrp="1"/>
          </p:cNvSpPr>
          <p:nvPr>
            <p:ph type="body" idx="1"/>
          </p:nvPr>
        </p:nvSpPr>
        <p:spPr>
          <a:xfrm>
            <a:off x="755650" y="1752600"/>
            <a:ext cx="106680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Problem: Develop a top-down stealth game in which the player must collect three evidence items and escape without being caught by a security guard.</a:t>
            </a:r>
            <a:endParaRPr sz="2400"/>
          </a:p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Existing challenge: A guard following a fixed, predictable route makes stealth gameplay easy to exploit.</a:t>
            </a:r>
            <a:endParaRPr sz="2400"/>
          </a:p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Proposed solution: Use AI techniques to create a guard that reacts to player noise, detects the player through line of sight, and navigates around obstacles.</a:t>
            </a:r>
            <a:endParaRPr sz="2400"/>
          </a:p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Motivation: Demonstrate practical applications of Artificial Intelligence through an interactive game.</a:t>
            </a:r>
            <a:endParaRPr sz="2400"/>
          </a:p>
        </p:txBody>
      </p:sp>
      <p:sp>
        <p:nvSpPr>
          <p:cNvPr id="104" name="Google Shape;104;p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4" sy="100004" flip="none" algn="tl"/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5d35481bc02a00b1_0_1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Problem Statement and Motivation</a:t>
            </a:r>
            <a:endParaRPr sz="2800"/>
          </a:p>
        </p:txBody>
      </p:sp>
      <p:sp>
        <p:nvSpPr>
          <p:cNvPr id="110" name="Google Shape;110;h5d35481bc02a00b1_0_1"/>
          <p:cNvSpPr txBox="1">
            <a:spLocks noGrp="1"/>
          </p:cNvSpPr>
          <p:nvPr>
            <p:ph type="body" idx="1"/>
          </p:nvPr>
        </p:nvSpPr>
        <p:spPr>
          <a:xfrm>
            <a:off x="766225" y="1374950"/>
            <a:ext cx="10668000" cy="38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Significance: The project combines game development, intelligent decision-making, pathfinding, and adversarial search in a small, understandable environment.</a:t>
            </a:r>
            <a:endParaRPr sz="2400"/>
          </a:p>
        </p:txBody>
      </p:sp>
      <p:sp>
        <p:nvSpPr>
          <p:cNvPr id="111" name="Google Shape;111;h5d35481bc02a00b1_0_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Objectives</a:t>
            </a:r>
            <a:endParaRPr sz="2800"/>
          </a:p>
        </p:txBody>
      </p:sp>
      <p:sp>
        <p:nvSpPr>
          <p:cNvPr id="117" name="Google Shape;117;p3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1. Develop a compact, grid-based stealth game environment.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2. Allow the player to collect three evidence items and reach the exit.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3. Implement a Finite State Machine (FSM) for the guard with four states: Patrol, Investigate, Chase, and Return.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4. Use noise events and line-of-sight checks to detect player activity.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5. Apply A* pathfinding to navigate around obstacles.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6. Incorporate Minimax with Alpha–Beta pruning into the decision-planning component.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sp>
        <p:nvSpPr>
          <p:cNvPr id="118" name="Google Shape;118;p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4" sy="100004" flip="none" algn="tl"/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5d35481bc02a00b1_0_7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Objectives</a:t>
            </a:r>
            <a:endParaRPr sz="2800"/>
          </a:p>
        </p:txBody>
      </p:sp>
      <p:sp>
        <p:nvSpPr>
          <p:cNvPr id="124" name="Google Shape;124;h5d35481bc02a00b1_0_7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7. Evaluate the guard's behaviour using repeatable gameplay test scenarios.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**Expected outcome:** An interactive prototype demonstrating AI-driven guard behaviour and a clear player objective.</a:t>
            </a:r>
            <a:endParaRPr sz="2400"/>
          </a:p>
        </p:txBody>
      </p:sp>
      <p:sp>
        <p:nvSpPr>
          <p:cNvPr id="125" name="Google Shape;125;h5d35481bc02a00b1_0_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Project Progress Since Review 1</a:t>
            </a:r>
            <a:endParaRPr sz="2800"/>
          </a:p>
        </p:txBody>
      </p:sp>
      <p:sp>
        <p:nvSpPr>
          <p:cNvPr id="131" name="Google Shape;131;p4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Refined the project scope to one map, one security guard, three evidence items, and one exit.</a:t>
            </a:r>
            <a:endParaRPr sz="2400"/>
          </a:p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Defined the gameplay sequence: Explore → Collect Evidence → Avoid Guard → Escape.</a:t>
            </a:r>
            <a:endParaRPr sz="2400"/>
          </a:p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Identified the guard's four behaviour states and their intended transitions.</a:t>
            </a:r>
            <a:endParaRPr sz="2400"/>
          </a:p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Planned the integration of noise detection, line-of-sight detection, FSM, and A* pathfinding.</a:t>
            </a:r>
            <a:endParaRPr sz="2400"/>
          </a:p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Identified Minimax with Alpha–Beta pruning as the decision-planning component.</a:t>
            </a:r>
            <a:endParaRPr sz="2400"/>
          </a:p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Defined the modules required for implementation and testing.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sp>
        <p:nvSpPr>
          <p:cNvPr id="132" name="Google Shape;132;p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4" sy="100004" flip="none" algn="tl"/>
        </a:blip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5d35481bc02a00b1_0_13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Project Progress Since Review 1</a:t>
            </a:r>
            <a:endParaRPr sz="2800"/>
          </a:p>
        </p:txBody>
      </p:sp>
      <p:sp>
        <p:nvSpPr>
          <p:cNvPr id="138" name="Google Shape;138;h5d35481bc02a00b1_0_13"/>
          <p:cNvSpPr txBox="1">
            <a:spLocks noGrp="1"/>
          </p:cNvSpPr>
          <p:nvPr>
            <p:ph type="body" idx="1"/>
          </p:nvPr>
        </p:nvSpPr>
        <p:spPr>
          <a:xfrm>
            <a:off x="766226" y="1431625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**Current status:** The project design and implementation plan are outlined. Update this slide with the actual coding progress achieved since Review 1 before presenting.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sp>
        <p:nvSpPr>
          <p:cNvPr id="139" name="Google Shape;139;h5d35481bc02a00b1_0_1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Literature Survey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145" name="Google Shape;145;p5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None/>
            </a:pPr>
            <a:br>
              <a:rPr lang="en-US" sz="2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2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146" name="Google Shape;146;p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aphicFrame>
        <p:nvGraphicFramePr>
          <p:cNvPr id="147" name="Google Shape;147;p5"/>
          <p:cNvGraphicFramePr/>
          <p:nvPr/>
        </p:nvGraphicFramePr>
        <p:xfrm>
          <a:off x="555592" y="15032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{80033133-A106-4E10-A3C9-CFF4516EA3C2}</a:tableStyleId>
              </a:tblPr>
              <a:tblGrid>
                <a:gridCol w="288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12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13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S. No.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Author(s) &amp; Year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Paper Title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Methodology / Algorithm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Limitations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Hart, Nilsson &amp; Raphael (1968)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 Formal Basis for the Heuristic Determination of Minimum Cost Paths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A* heuristic search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Efficiency depends on heuristic quality and search-space size.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Millington &amp; Funge (2016)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Artificial Intelligence for Games, 3rd ed.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Game AI techniques, including pathfinding and state machines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General techniques must be adapted to the requirements of a specific game.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Orkin (2006)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Three States and a Plan: The AI of F.E.A.R.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Goal-oriented planning and layered game AI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The approach addresses a more complex action game than this small prototype.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Literature Survey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153" name="Google Shape;153;p6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None/>
            </a:pPr>
            <a:br>
              <a:rPr lang="en-US" sz="2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2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154" name="Google Shape;154;p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aphicFrame>
        <p:nvGraphicFramePr>
          <p:cNvPr id="155" name="Google Shape;155;p6"/>
          <p:cNvGraphicFramePr/>
          <p:nvPr/>
        </p:nvGraphicFramePr>
        <p:xfrm>
          <a:off x="983432" y="174625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{80033133-A106-4E10-A3C9-CFF4516EA3C2}</a:tableStyleId>
              </a:tblPr>
              <a:tblGrid>
                <a:gridCol w="56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3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5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S. No.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Author(s) &amp; Year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Paper Title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Methodology / Algorithm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Limitations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8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Russell &amp; Norvig (2021)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Artificial Intelligence: A Modern Approach, 4th ed.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Adversarial search, Minimax, and Alpha–Beta pruning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Search cost can grow rapidly with branching factor and search depth.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8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 sz="1800" u="none" strike="noStrike" cap="none"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Rabin, ed. (2002)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AI Game Programming Wisdom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Practical game AI techniques and implementation patterns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Techniques may require modification and tuning for the target game.</a:t>
                      </a:r>
                      <a:endParaRPr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 Research Gap and Project Response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161" name="Google Shape;161;p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6096000" y="1752600"/>
            <a:ext cx="5452800" cy="121590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 cap="flat" cmpd="sng">
            <a:solidFill>
              <a:srgbClr val="CDDA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201150" tIns="146300" rIns="164575" bIns="45700" anchor="ctr" anchorCtr="0">
            <a:noAutofit/>
          </a:bodyPr>
          <a:lstStyle/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93054"/>
                </a:solidFill>
                <a:latin typeface="Play"/>
                <a:ea typeface="Play"/>
                <a:cs typeface="Play"/>
                <a:sym typeface="Play"/>
              </a:rPr>
              <a:t>2. Limitations</a:t>
            </a:r>
            <a:endParaRPr sz="1700" b="1">
              <a:solidFill>
                <a:srgbClr val="193054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93054"/>
                </a:solidFill>
                <a:latin typeface="Play"/>
                <a:ea typeface="Play"/>
                <a:cs typeface="Play"/>
                <a:sym typeface="Play"/>
              </a:rPr>
              <a:t>A small stealth game must balance believable guard behaviour with simple, understandable, and testable rules.</a:t>
            </a:r>
            <a:endParaRPr sz="1700" b="1">
              <a:solidFill>
                <a:srgbClr val="193054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766225" y="3645025"/>
            <a:ext cx="5177400" cy="2120700"/>
          </a:xfrm>
          <a:prstGeom prst="roundRect">
            <a:avLst>
              <a:gd name="adj" fmla="val 16667"/>
            </a:avLst>
          </a:prstGeom>
          <a:solidFill>
            <a:srgbClr val="EBF2FA"/>
          </a:solidFill>
          <a:ln w="9525" cap="flat" cmpd="sng">
            <a:solidFill>
              <a:srgbClr val="CDDA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201150" tIns="146300" rIns="164575" bIns="45700" anchor="ctr" anchorCtr="0">
            <a:noAutofit/>
          </a:bodyPr>
          <a:lstStyle/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93054"/>
                </a:solidFill>
                <a:latin typeface="Play"/>
                <a:ea typeface="Play"/>
                <a:cs typeface="Play"/>
                <a:sym typeface="Play"/>
              </a:rPr>
              <a:t>3. Refined Research Gap</a:t>
            </a:r>
            <a:endParaRPr sz="1700" b="1">
              <a:solidFill>
                <a:srgbClr val="193054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93054"/>
                </a:solidFill>
                <a:latin typeface="Play"/>
                <a:ea typeface="Play"/>
                <a:cs typeface="Play"/>
                <a:sym typeface="Play"/>
              </a:rPr>
              <a:t>Integrating noise-based investigation, visual detection, state-based guard behaviour, and obstacle-aware navigation into one compact stealth-game scenario.</a:t>
            </a:r>
            <a:endParaRPr sz="1700" b="1">
              <a:solidFill>
                <a:srgbClr val="193054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147788" y="3411575"/>
            <a:ext cx="5349300" cy="239070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 cap="flat" cmpd="sng">
            <a:solidFill>
              <a:srgbClr val="CDDA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201150" tIns="146300" rIns="164575" bIns="45700" anchor="ctr" anchorCtr="0">
            <a:noAutofit/>
          </a:bodyPr>
          <a:lstStyle/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93054"/>
                </a:solidFill>
                <a:latin typeface="Play"/>
                <a:ea typeface="Play"/>
                <a:cs typeface="Play"/>
                <a:sym typeface="Play"/>
              </a:rPr>
              <a:t>4. Project Response</a:t>
            </a:r>
            <a:endParaRPr sz="1700" b="1">
              <a:solidFill>
                <a:srgbClr val="193054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93054"/>
                </a:solidFill>
                <a:latin typeface="Play"/>
                <a:ea typeface="Play"/>
                <a:cs typeface="Play"/>
                <a:sym typeface="Play"/>
              </a:rPr>
              <a:t>ShadowTrace proposes a modular design combining FSM, noise and line-of-sight sensing, A* pathfinding, and a Minimax/Alpha–Beta decision component. Implementation and evaluation will determine how effectively these components work together.</a:t>
            </a:r>
            <a:endParaRPr sz="1700" b="1">
              <a:solidFill>
                <a:srgbClr val="193054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766233" y="1790774"/>
            <a:ext cx="5177400" cy="1584300"/>
          </a:xfrm>
          <a:prstGeom prst="roundRect">
            <a:avLst>
              <a:gd name="adj" fmla="val 16667"/>
            </a:avLst>
          </a:prstGeom>
          <a:solidFill>
            <a:srgbClr val="EBF2FA"/>
          </a:solidFill>
          <a:ln w="9525" cap="flat" cmpd="sng">
            <a:solidFill>
              <a:srgbClr val="CDDA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201150" tIns="146300" rIns="164575" bIns="45700" anchor="ctr" anchorCtr="0">
            <a:noAutofit/>
          </a:bodyPr>
          <a:lstStyle/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93054"/>
                </a:solidFill>
                <a:latin typeface="Play"/>
                <a:ea typeface="Play"/>
                <a:cs typeface="Play"/>
                <a:sym typeface="Play"/>
              </a:rPr>
              <a:t>1. Literature Findings</a:t>
            </a:r>
            <a:endParaRPr sz="1700" b="1">
              <a:solidFill>
                <a:srgbClr val="193054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93054"/>
                </a:solidFill>
                <a:latin typeface="Play"/>
                <a:ea typeface="Play"/>
                <a:cs typeface="Play"/>
                <a:sym typeface="Play"/>
              </a:rPr>
              <a:t>Game AI literature describes pathfinding, state machines, and decision-search algorithms as useful components for developing responsive game agents.</a:t>
            </a:r>
            <a:endParaRPr sz="1700" b="1">
              <a:solidFill>
                <a:srgbClr val="193054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System Architecture / Proposed System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171" name="Google Shape;171;p8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72" name="Google Shape;1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4979" y="1660600"/>
            <a:ext cx="7902034" cy="4444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DFD Diagram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178" name="Google Shape;178;p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79" name="Google Shape;17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3341" y="1629587"/>
            <a:ext cx="8012232" cy="4506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Methodology / Workflow Diagram</a:t>
            </a:r>
            <a:endParaRPr sz="2800"/>
          </a:p>
        </p:txBody>
      </p:sp>
      <p:sp>
        <p:nvSpPr>
          <p:cNvPr id="185" name="Google Shape;185;p1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86" name="Google Shape;1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5459" y="1680975"/>
            <a:ext cx="7913667" cy="4451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Tools and Technologies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192" name="Google Shape;192;p11"/>
          <p:cNvSpPr txBox="1">
            <a:spLocks noGrp="1"/>
          </p:cNvSpPr>
          <p:nvPr>
            <p:ph type="body" idx="1"/>
          </p:nvPr>
        </p:nvSpPr>
        <p:spPr>
          <a:xfrm>
            <a:off x="762001" y="12954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Programming Language: Python (planned implementation)</a:t>
            </a:r>
            <a:endParaRPr sz="2400"/>
          </a:p>
          <a:p>
            <a:pPr marL="4699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69900" lvl="0" indent="-5080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Framework / Library: Pygame for 2D graphics, keyboard input, game loops, and collision handling.</a:t>
            </a:r>
            <a:endParaRPr sz="2400"/>
          </a:p>
          <a:p>
            <a:pPr marL="4699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69900" lvl="0" indent="-5080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Algorithms:</a:t>
            </a:r>
            <a:endParaRPr sz="2400"/>
          </a:p>
          <a:p>
            <a:pPr marL="4699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/>
              <a:t>- Finite State Machine (FSM)</a:t>
            </a:r>
            <a:endParaRPr sz="2400"/>
          </a:p>
          <a:p>
            <a:pPr marL="4699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/>
              <a:t>- A* pathfinding</a:t>
            </a:r>
            <a:endParaRPr sz="2400"/>
          </a:p>
          <a:p>
            <a:pPr marL="4699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/>
              <a:t>- Minimax search</a:t>
            </a:r>
            <a:endParaRPr sz="2400"/>
          </a:p>
          <a:p>
            <a:pPr marL="4699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/>
              <a:t>- Alpha–Beta pruning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sp>
        <p:nvSpPr>
          <p:cNvPr id="193" name="Google Shape;193;p1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2ac118f1279bbe2_1_399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Tools and Technologies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199" name="Google Shape;199;h2ac118f1279bbe2_1_399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Software / Hardware / Dataset: Desktop development environment, a custom grid map, and manually designed gameplay test scenarios.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Justification: Python and Pygame are suitable for a small 2D game prototype. The selected algorithms demonstrate state-based behaviour, obstacle-aware navigation, and adversarial decision-making.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Update the language, framework, and tool details if your actual implementation uses a different stack.</a:t>
            </a:r>
            <a:endParaRPr sz="2400"/>
          </a:p>
        </p:txBody>
      </p:sp>
      <p:sp>
        <p:nvSpPr>
          <p:cNvPr id="200" name="Google Shape;200;h2ac118f1279bbe2_1_39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List of Modules</a:t>
            </a:r>
            <a:endParaRPr sz="2800"/>
          </a:p>
        </p:txBody>
      </p:sp>
      <p:sp>
        <p:nvSpPr>
          <p:cNvPr id="206" name="Google Shape;206;p12"/>
          <p:cNvSpPr txBox="1">
            <a:spLocks noGrp="1"/>
          </p:cNvSpPr>
          <p:nvPr>
            <p:ph type="body" idx="1"/>
          </p:nvPr>
        </p:nvSpPr>
        <p:spPr>
          <a:xfrm>
            <a:off x="762001" y="162285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1. Grid Map and Collision System — In Progress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2. Player Movement and Interaction — In Progress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3. Evidence Collection and Escape Condition — In Progress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4. Noise and Line-of-Sight Detection — Planned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5. Guard FSM — Planned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6. A* Pathfinding — Planned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7. Minimax with Alpha–Beta Pruning — Planned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8. Testing and Result Logging — Pending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*Update each status to reflect the actual implementation. Do not label a module as completed until it has been implemented and verified.*</a:t>
            </a:r>
            <a:endParaRPr sz="2400"/>
          </a:p>
        </p:txBody>
      </p:sp>
      <p:sp>
        <p:nvSpPr>
          <p:cNvPr id="207" name="Google Shape;207;p1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2ac118f1279bbe2_1_405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Module Implementation – Part 1</a:t>
            </a:r>
            <a:endParaRPr sz="2800"/>
          </a:p>
        </p:txBody>
      </p:sp>
      <p:sp>
        <p:nvSpPr>
          <p:cNvPr id="213" name="Google Shape;213;h2ac118f1279bbe2_1_405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Module 1: World and Player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Purpose: Maintain the game map and allow the player to navigate the environment.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Inputs: Directional key presses and interaction commands.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Outputs: Updated player position and game-world state.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sp>
        <p:nvSpPr>
          <p:cNvPr id="214" name="Google Shape;214;h2ac118f1279bbe2_1_40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Module Implementation – Part 1</a:t>
            </a:r>
            <a:endParaRPr sz="2800"/>
          </a:p>
        </p:txBody>
      </p:sp>
      <p:sp>
        <p:nvSpPr>
          <p:cNvPr id="220" name="Google Shape;220;p13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Implementation Approach: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Represent the environment as a grid containing walkable cells and obstacles.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Validate player movement against walls and map boundaries.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Update evidence status when the player collects an item.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Track the number of collected items.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Allow escape when the required objective is satisfied.</a:t>
            </a:r>
            <a:endParaRPr sz="240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Current Status: Design and module responsibilities are defined. Add a screenshot and testing evidence after implementation.</a:t>
            </a:r>
            <a:endParaRPr sz="2400"/>
          </a:p>
        </p:txBody>
      </p:sp>
      <p:sp>
        <p:nvSpPr>
          <p:cNvPr id="221" name="Google Shape;221;p1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Module Implementation – Part 2</a:t>
            </a:r>
            <a:endParaRPr sz="2800"/>
          </a:p>
        </p:txBody>
      </p:sp>
      <p:sp>
        <p:nvSpPr>
          <p:cNvPr id="227" name="Google Shape;227;p14"/>
          <p:cNvSpPr txBox="1">
            <a:spLocks noGrp="1"/>
          </p:cNvSpPr>
          <p:nvPr>
            <p:ph type="body" idx="1"/>
          </p:nvPr>
        </p:nvSpPr>
        <p:spPr>
          <a:xfrm>
            <a:off x="755650" y="1752600"/>
            <a:ext cx="10668000" cy="53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Module 2: Guard AI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Inputs: Player position, noise events, line-of-sight result, and map obstacles.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Finite State Machine: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Patrol: Follow a predefined route.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Investigate: Move towards the last known noise location.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Chase: Pursue the player when visual detection succeeds.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Return: Resume patrol after the player is no longer detected.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sp>
        <p:nvSpPr>
          <p:cNvPr id="228" name="Google Shape;228;p1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h2ac118f1279bbe2_1_411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Module Implementation – Part 2</a:t>
            </a:r>
            <a:endParaRPr sz="2800"/>
          </a:p>
        </p:txBody>
      </p:sp>
      <p:sp>
        <p:nvSpPr>
          <p:cNvPr id="234" name="Google Shape;234;h2ac118f1279bbe2_1_411"/>
          <p:cNvSpPr txBox="1">
            <a:spLocks noGrp="1"/>
          </p:cNvSpPr>
          <p:nvPr>
            <p:ph type="body" idx="1"/>
          </p:nvPr>
        </p:nvSpPr>
        <p:spPr>
          <a:xfrm>
            <a:off x="755650" y="1752600"/>
            <a:ext cx="10668000" cy="53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Pathfinding: A* calculates a route around obstacles.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Decision Component: Minimax with Alpha–Beta pruning is proposed for decision planning. The game states, available actions, utility values, and role of the adversarial search must be explicitly defined during implementation.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Current Status: Behaviour and module design are specified. Include code evidence and test observations once available.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sp>
        <p:nvSpPr>
          <p:cNvPr id="235" name="Google Shape;235;h2ac118f1279bbe2_1_41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Preliminary Results and Discussion</a:t>
            </a:r>
            <a:endParaRPr sz="2800"/>
          </a:p>
        </p:txBody>
      </p:sp>
      <p:sp>
        <p:nvSpPr>
          <p:cNvPr id="241" name="Google Shape;241;p15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Current Evaluation Status:** No measured gameplay results are available to report yet.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Planned Test Cases: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1. Player moves quietly outside the guard's field of view.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2. A noise event causes the guard to enter Investigate.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3. The player enters line of sight and triggers Chase.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4. The guard loses visual contact and returns to patrol.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5. The player collects all three evidence items and reaches the exit.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6. The player is caught before completing the objective.</a:t>
            </a:r>
            <a:endParaRPr sz="2400"/>
          </a:p>
        </p:txBody>
      </p:sp>
      <p:sp>
        <p:nvSpPr>
          <p:cNvPr id="242" name="Google Shape;242;p1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2ac118f1279bbe2_1_417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Preliminary Results and Discussion</a:t>
            </a:r>
            <a:endParaRPr sz="2800"/>
          </a:p>
        </p:txBody>
      </p:sp>
      <p:sp>
        <p:nvSpPr>
          <p:cNvPr id="248" name="Google Shape;248;h2ac118f1279bbe2_1_417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Metrics to Record: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Correct FSM transitions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Validity of calculated routes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Detection response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Escape and caught outcomes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Decision-making runtime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Baseline Comparison: Compare the AI-controlled guard with a fixed-route guard that does not use sensing or A* pathfinding.</a:t>
            </a:r>
            <a:endParaRPr sz="2400"/>
          </a:p>
        </p:txBody>
      </p:sp>
      <p:sp>
        <p:nvSpPr>
          <p:cNvPr id="249" name="Google Shape;249;h2ac118f1279bbe2_1_41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User Interface / Implementation Screenshots</a:t>
            </a:r>
            <a:endParaRPr sz="3200"/>
          </a:p>
        </p:txBody>
      </p:sp>
      <p:sp>
        <p:nvSpPr>
          <p:cNvPr id="255" name="Google Shape;255;p16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Second Review</a:t>
            </a:r>
            <a:endParaRPr/>
          </a:p>
        </p:txBody>
      </p:sp>
      <p:sp>
        <p:nvSpPr>
          <p:cNvPr id="256" name="Google Shape;256;p16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</a:t>
            </a:r>
            <a:endParaRPr/>
          </a:p>
        </p:txBody>
      </p:sp>
      <p:sp>
        <p:nvSpPr>
          <p:cNvPr id="257" name="Google Shape;257;p1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258" name="Google Shape;25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6230" y="1597025"/>
            <a:ext cx="6927983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2ac118f1279bbe2_1_424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User Interface / Implementation Screenshots</a:t>
            </a:r>
            <a:endParaRPr sz="3200"/>
          </a:p>
        </p:txBody>
      </p:sp>
      <p:sp>
        <p:nvSpPr>
          <p:cNvPr id="264" name="Google Shape;264;h2ac118f1279bbe2_1_424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Second Review</a:t>
            </a:r>
            <a:endParaRPr/>
          </a:p>
        </p:txBody>
      </p:sp>
      <p:sp>
        <p:nvSpPr>
          <p:cNvPr id="265" name="Google Shape;265;h2ac118f1279bbe2_1_424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</a:t>
            </a:r>
            <a:endParaRPr/>
          </a:p>
        </p:txBody>
      </p:sp>
      <p:sp>
        <p:nvSpPr>
          <p:cNvPr id="266" name="Google Shape;266;h2ac118f1279bbe2_1_42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267" name="Google Shape;267;h2ac118f1279bbe2_1_4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5312" y="1607013"/>
            <a:ext cx="6941276" cy="455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h2ac118f1279bbe2_1_432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User Interface / Implementation Screenshots</a:t>
            </a:r>
            <a:endParaRPr sz="3200"/>
          </a:p>
        </p:txBody>
      </p:sp>
      <p:sp>
        <p:nvSpPr>
          <p:cNvPr id="273" name="Google Shape;273;h2ac118f1279bbe2_1_432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Second Review</a:t>
            </a:r>
            <a:endParaRPr/>
          </a:p>
        </p:txBody>
      </p:sp>
      <p:sp>
        <p:nvSpPr>
          <p:cNvPr id="274" name="Google Shape;274;h2ac118f1279bbe2_1_43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</a:t>
            </a:r>
            <a:endParaRPr/>
          </a:p>
        </p:txBody>
      </p:sp>
      <p:sp>
        <p:nvSpPr>
          <p:cNvPr id="275" name="Google Shape;275;h2ac118f1279bbe2_1_43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276" name="Google Shape;276;h2ac118f1279bbe2_1_4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8896" y="1596900"/>
            <a:ext cx="6942668" cy="457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h2ac118f1279bbe2_1_448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User Interface / Implementation Screenshots</a:t>
            </a:r>
            <a:endParaRPr sz="3200"/>
          </a:p>
        </p:txBody>
      </p:sp>
      <p:sp>
        <p:nvSpPr>
          <p:cNvPr id="282" name="Google Shape;282;h2ac118f1279bbe2_1_448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Second Review</a:t>
            </a:r>
            <a:endParaRPr/>
          </a:p>
        </p:txBody>
      </p:sp>
      <p:sp>
        <p:nvSpPr>
          <p:cNvPr id="283" name="Google Shape;283;h2ac118f1279bbe2_1_448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</a:t>
            </a:r>
            <a:endParaRPr/>
          </a:p>
        </p:txBody>
      </p:sp>
      <p:sp>
        <p:nvSpPr>
          <p:cNvPr id="284" name="Google Shape;284;h2ac118f1279bbe2_1_448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285" name="Google Shape;285;h2ac118f1279bbe2_1_4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0751" y="1596900"/>
            <a:ext cx="6950398" cy="4572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Challenges Faced and Solutions</a:t>
            </a:r>
            <a:endParaRPr sz="2800"/>
          </a:p>
        </p:txBody>
      </p:sp>
      <p:sp>
        <p:nvSpPr>
          <p:cNvPr id="291" name="Google Shape;291;p17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❏"/>
            </a:pPr>
            <a:r>
              <a:rPr lang="en-US" sz="2400"/>
              <a:t> Guard behaviour: FSM-based state management.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-US" sz="2400"/>
              <a:t>Navigation: A* pathfinding.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-US" sz="2400"/>
              <a:t>Detection: combine noise and line of sight.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-US" sz="2400"/>
              <a:t>Algorithm integration: modular development and testing.</a:t>
            </a:r>
            <a:endParaRPr sz="2400"/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2" name="Google Shape;292;p1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Work Plan Until Final Review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298" name="Google Shape;298;p18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❏"/>
            </a:pPr>
            <a:r>
              <a:rPr lang="en-US" sz="2400"/>
              <a:t>Complete core game implementation.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-US" sz="2400"/>
              <a:t>Integrate and test AI algorithms.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-US" sz="2400"/>
              <a:t>Refine guard behaviour.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-US" sz="2400"/>
              <a:t>Conduct gameplay testing.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-US" sz="2400"/>
              <a:t>Document results and prepare final presentation.</a:t>
            </a:r>
            <a:endParaRPr sz="2400"/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9" name="Google Shape;299;p18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9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References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305" name="Google Shape;305;p19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Hart, Nilsson and Raphael (1968) — A* Search.</a:t>
            </a:r>
            <a:endParaRPr sz="2400"/>
          </a:p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Millington and Funge (2016) — Artificial Intelligence for Games.</a:t>
            </a:r>
            <a:endParaRPr sz="2400"/>
          </a:p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Orkin (2006) — Three States and a Plan: The AI of F.E.A.R.</a:t>
            </a:r>
            <a:endParaRPr sz="2400"/>
          </a:p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Russell and Norvig (2021) — Artificial Intelligence: A Modern Approach.</a:t>
            </a:r>
            <a:endParaRPr sz="2400"/>
          </a:p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Rabin (2002) — AI Game Programming Wisdom.</a:t>
            </a:r>
            <a:endParaRPr sz="2400"/>
          </a:p>
        </p:txBody>
      </p:sp>
      <p:sp>
        <p:nvSpPr>
          <p:cNvPr id="306" name="Google Shape;306;p1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"/>
          <p:cNvSpPr txBox="1"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FF0000"/>
                </a:solidFill>
              </a:rPr>
              <a:t>Thank You</a:t>
            </a:r>
            <a:endParaRPr/>
          </a:p>
        </p:txBody>
      </p:sp>
      <p:sp>
        <p:nvSpPr>
          <p:cNvPr id="312" name="Google Shape;312;p2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1615</Words>
  <Application>Microsoft Office PowerPoint</Application>
  <PresentationFormat>Widescreen</PresentationFormat>
  <Paragraphs>227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Verdana</vt:lpstr>
      <vt:lpstr>Arial</vt:lpstr>
      <vt:lpstr>Noto Sans Symbols</vt:lpstr>
      <vt:lpstr>Calibri</vt:lpstr>
      <vt:lpstr>Play</vt:lpstr>
      <vt:lpstr>Profile</vt:lpstr>
      <vt:lpstr>PowerPoint Presentation</vt:lpstr>
      <vt:lpstr>Problem Statement and Motivation</vt:lpstr>
      <vt:lpstr>Problem Statement and Motivation</vt:lpstr>
      <vt:lpstr>Objectives</vt:lpstr>
      <vt:lpstr>Objectives</vt:lpstr>
      <vt:lpstr>Project Progress Since Review 1</vt:lpstr>
      <vt:lpstr>Project Progress Since Review 1</vt:lpstr>
      <vt:lpstr>Literature Survey</vt:lpstr>
      <vt:lpstr>Literature Survey</vt:lpstr>
      <vt:lpstr> Research Gap and Project Response</vt:lpstr>
      <vt:lpstr>System Architecture / Proposed System</vt:lpstr>
      <vt:lpstr>DFD Diagram</vt:lpstr>
      <vt:lpstr>Methodology / Workflow Diagram</vt:lpstr>
      <vt:lpstr>Tools and Technologies</vt:lpstr>
      <vt:lpstr>Tools and Technologies</vt:lpstr>
      <vt:lpstr>List of Modules</vt:lpstr>
      <vt:lpstr>Module Implementation – Part 1</vt:lpstr>
      <vt:lpstr>Module Implementation – Part 1</vt:lpstr>
      <vt:lpstr>Module Implementation – Part 2</vt:lpstr>
      <vt:lpstr>Module Implementation – Part 2</vt:lpstr>
      <vt:lpstr>Preliminary Results and Discussion</vt:lpstr>
      <vt:lpstr>Preliminary Results and Discussion</vt:lpstr>
      <vt:lpstr>User Interface / Implementation Screenshots</vt:lpstr>
      <vt:lpstr>User Interface / Implementation Screenshots</vt:lpstr>
      <vt:lpstr>User Interface / Implementation Screenshots</vt:lpstr>
      <vt:lpstr>User Interface / Implementation Screenshots</vt:lpstr>
      <vt:lpstr>Challenges Faced and Solutions</vt:lpstr>
      <vt:lpstr>Work Plan Until Final Review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Nandhini Velmurugan</cp:lastModifiedBy>
  <cp:revision>1</cp:revision>
  <dcterms:modified xsi:type="dcterms:W3CDTF">2026-10-20T13:15:37Z</dcterms:modified>
</cp:coreProperties>
</file>